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781800" cy="9918700"/>
  <p:embeddedFontLst>
    <p:embeddedFont>
      <p:font typeface="Raleway ExtraBold"/>
      <p:bold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Anaheim"/>
      <p:regular r:id="rId28"/>
      <p:bold r:id="rId29"/>
    </p:embeddedFont>
    <p:embeddedFont>
      <p:font typeface="Corbel"/>
      <p:regular r:id="rId30"/>
      <p:bold r:id="rId31"/>
      <p:italic r:id="rId32"/>
      <p:boldItalic r:id="rId33"/>
    </p:embeddedFont>
    <p:embeddedFont>
      <p:font typeface="Tahoma"/>
      <p:regular r:id="rId34"/>
      <p:bold r:id="rId35"/>
    </p:embeddedFont>
    <p:embeddedFont>
      <p:font typeface="Raleway Black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ExtraBold-bold.fntdata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font" Target="fonts/Raleway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Anaheim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nahei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rbel-bold.fntdata"/><Relationship Id="rId30" Type="http://schemas.openxmlformats.org/officeDocument/2006/relationships/font" Target="fonts/Corbel-regular.fntdata"/><Relationship Id="rId11" Type="http://schemas.openxmlformats.org/officeDocument/2006/relationships/slide" Target="slides/slide6.xml"/><Relationship Id="rId33" Type="http://schemas.openxmlformats.org/officeDocument/2006/relationships/font" Target="fonts/Corbel-boldItalic.fntdata"/><Relationship Id="rId10" Type="http://schemas.openxmlformats.org/officeDocument/2006/relationships/slide" Target="slides/slide5.xml"/><Relationship Id="rId32" Type="http://schemas.openxmlformats.org/officeDocument/2006/relationships/font" Target="fonts/Corbel-italic.fntdata"/><Relationship Id="rId13" Type="http://schemas.openxmlformats.org/officeDocument/2006/relationships/slide" Target="slides/slide8.xml"/><Relationship Id="rId35" Type="http://schemas.openxmlformats.org/officeDocument/2006/relationships/font" Target="fonts/Tahoma-bold.fntdata"/><Relationship Id="rId12" Type="http://schemas.openxmlformats.org/officeDocument/2006/relationships/slide" Target="slides/slide7.xml"/><Relationship Id="rId34" Type="http://schemas.openxmlformats.org/officeDocument/2006/relationships/font" Target="fonts/Tahoma-regular.fntdata"/><Relationship Id="rId15" Type="http://schemas.openxmlformats.org/officeDocument/2006/relationships/slide" Target="slides/slide10.xml"/><Relationship Id="rId37" Type="http://schemas.openxmlformats.org/officeDocument/2006/relationships/font" Target="fonts/RalewayBlack-boldItalic.fntdata"/><Relationship Id="rId14" Type="http://schemas.openxmlformats.org/officeDocument/2006/relationships/slide" Target="slides/slide9.xml"/><Relationship Id="rId36" Type="http://schemas.openxmlformats.org/officeDocument/2006/relationships/font" Target="fonts/RalewayBlack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4" name="Google Shape;1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9709612e3_2_1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29709612e3_2_1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9709612e3_2_30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29709612e3_2_30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9709612e3_2_55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29709612e3_2_55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9709612e3_2_42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29709612e3_2_42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885e2a979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0" name="Google Shape;250;g32885e2a97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3275d50d3c_0_5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3275d50d3c_0_5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29709612e3_3_6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29709612e3_3_6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3275d50d3c_0_12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3275d50d3c_0_12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3578c67fa7_0_11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3578c67fa7_0_11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578c67fa7_0_1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3578c67fa7_0_1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2885e2a979_1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4" name="Google Shape;294;g32885e2a979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275d50d3c_0_13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3275d50d3c_0_13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:notes"/>
          <p:cNvSpPr txBox="1"/>
          <p:nvPr>
            <p:ph idx="12" type="sldNum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9:notes"/>
          <p:cNvSpPr/>
          <p:nvPr>
            <p:ph idx="2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39:notes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b="1" i="0" sz="9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5" name="Google Shape;25;p3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5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b="1" sz="9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</a:t>
            </a: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HỌC QUỐC GIA THÀNH PHỐ HỒ CHÍ MINH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2" type="body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cap="flat" cmpd="sng" w="19050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b="1"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9" name="Google Shape;99;p14"/>
          <p:cNvSpPr txBox="1"/>
          <p:nvPr>
            <p:ph idx="2" type="body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" type="body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b="1"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101" name="Google Shape;101;p14"/>
          <p:cNvSpPr txBox="1"/>
          <p:nvPr>
            <p:ph idx="4" type="body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cap="flat" cmpd="sng" w="19050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7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indent="-37861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indent="-357187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indent="-335756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indent="-335756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cap="flat" cmpd="sng" w="9525">
            <a:solidFill>
              <a:srgbClr val="637D9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/>
          <p:nvPr>
            <p:ph idx="2" type="pic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30" name="Google Shape;130;p19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cap="flat" cmpd="sng" w="9525">
            <a:solidFill>
              <a:srgbClr val="637D9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>
            <p:ph idx="2" type="pic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2"/>
          <p:cNvSpPr/>
          <p:nvPr>
            <p:ph idx="3" type="pic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2"/>
          <p:cNvSpPr txBox="1"/>
          <p:nvPr>
            <p:ph idx="4" type="body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2"/>
          <p:cNvSpPr/>
          <p:nvPr>
            <p:ph idx="5" type="pic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2"/>
          <p:cNvSpPr txBox="1"/>
          <p:nvPr>
            <p:ph idx="6" type="body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cap="flat" cmpd="sng" w="9525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b="1" sz="1800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2" type="body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i="1" sz="1013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3"/>
          <p:cNvSpPr/>
          <p:nvPr>
            <p:ph idx="3" type="chart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4" type="body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cap="flat" cmpd="sng" w="9525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b="1" sz="1800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2" type="body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i="1" sz="1013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4"/>
          <p:cNvSpPr/>
          <p:nvPr>
            <p:ph idx="3" type="chart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4" type="body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>
            <p:ph idx="2" type="pic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/>
          <p:nvPr>
            <p:ph idx="3" type="pic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/>
          <p:nvPr>
            <p:ph idx="4" type="pic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/>
          <p:nvPr>
            <p:ph idx="5" type="pic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6" type="body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7" type="body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8" type="body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eet the team 3">
  <p:cSld name="1_Meet the team 3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788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b="1" i="0" sz="2475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8618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7187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5756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5088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5088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ctrTitle"/>
          </p:nvPr>
        </p:nvSpPr>
        <p:spPr>
          <a:xfrm>
            <a:off x="1400700" y="2795125"/>
            <a:ext cx="63426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b="0" lang="en-US" sz="2400"/>
              <a:t>Chapter 1: Stateless Programming</a:t>
            </a:r>
            <a:endParaRPr sz="2400">
              <a:solidFill>
                <a:srgbClr val="2E75B5"/>
              </a:solidFill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8" name="Google Shape;188;p27"/>
          <p:cNvSpPr txBox="1"/>
          <p:nvPr>
            <p:ph type="ctrTitle"/>
          </p:nvPr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/>
              <a:t>Advanced Programming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b="0" lang="en-US" sz="2400"/>
              <a:t>CO2039</a:t>
            </a:r>
            <a:endParaRPr b="0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129019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>
            <p:ph idx="4" type="title"/>
          </p:nvPr>
        </p:nvSpPr>
        <p:spPr>
          <a:xfrm>
            <a:off x="1092960" y="1737322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>
            <p:ph idx="5" type="title"/>
          </p:nvPr>
        </p:nvSpPr>
        <p:spPr>
          <a:xfrm>
            <a:off x="1092960" y="228556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>
            <p:ph idx="8" type="subTitle"/>
          </p:nvPr>
        </p:nvSpPr>
        <p:spPr>
          <a:xfrm>
            <a:off x="1926558" y="1739110"/>
            <a:ext cx="40710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IMPERATIVE VS DECLARATIVE</a:t>
            </a:r>
            <a:endParaRPr sz="2000"/>
          </a:p>
        </p:txBody>
      </p:sp>
      <p:sp>
        <p:nvSpPr>
          <p:cNvPr id="197" name="Google Shape;197;p28"/>
          <p:cNvSpPr txBox="1"/>
          <p:nvPr>
            <p:ph idx="14" type="subTitle"/>
          </p:nvPr>
        </p:nvSpPr>
        <p:spPr>
          <a:xfrm>
            <a:off x="1926550" y="2246113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CORE PRINCIPLES OF FUNCTIONAL PROGRAMMING</a:t>
            </a:r>
            <a:endParaRPr sz="2000"/>
          </a:p>
        </p:txBody>
      </p:sp>
      <p:grpSp>
        <p:nvGrpSpPr>
          <p:cNvPr id="198" name="Google Shape;198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199" name="Google Shape;199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0" name="Google Shape;200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28"/>
            <p:cNvSpPr/>
            <p:nvPr/>
          </p:nvSpPr>
          <p:spPr>
            <a:xfrm>
              <a:off x="472500" y="1762000"/>
              <a:ext cx="700000" cy="3463350"/>
            </a:xfrm>
            <a:custGeom>
              <a:rect b="b" l="l" r="r" t="t"/>
              <a:pathLst>
                <a:path extrusionOk="0" h="138534" w="2800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28"/>
          <p:cNvSpPr/>
          <p:nvPr/>
        </p:nvSpPr>
        <p:spPr>
          <a:xfrm rot="-5400000">
            <a:off x="107754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28"/>
          <p:cNvSpPr txBox="1"/>
          <p:nvPr>
            <p:ph idx="5" type="title"/>
          </p:nvPr>
        </p:nvSpPr>
        <p:spPr>
          <a:xfrm>
            <a:off x="1092960" y="287294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/>
          <p:nvPr>
            <p:ph idx="14" type="subTitle"/>
          </p:nvPr>
        </p:nvSpPr>
        <p:spPr>
          <a:xfrm>
            <a:off x="1926550" y="2833488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IMPERATIVE VS DECLARATIVE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9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Imperative languages</a:t>
            </a:r>
            <a:endParaRPr/>
          </a:p>
        </p:txBody>
      </p:sp>
      <p:sp>
        <p:nvSpPr>
          <p:cNvPr id="219" name="Google Shape;219;p30"/>
          <p:cNvSpPr txBox="1"/>
          <p:nvPr>
            <p:ph type="title"/>
          </p:nvPr>
        </p:nvSpPr>
        <p:spPr>
          <a:xfrm>
            <a:off x="720000" y="1017725"/>
            <a:ext cx="77040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Based on von Neumann </a:t>
            </a:r>
            <a:r>
              <a:rPr b="0" lang="en-US" sz="1800">
                <a:solidFill>
                  <a:schemeClr val="dk1"/>
                </a:solidFill>
              </a:rPr>
              <a:t>architecture</a:t>
            </a:r>
            <a:r>
              <a:rPr b="0" lang="en-US" sz="1800">
                <a:solidFill>
                  <a:schemeClr val="dk1"/>
                </a:solidFill>
              </a:rPr>
              <a:t>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Relies on modifying variables (</a:t>
            </a:r>
            <a:r>
              <a:rPr b="0" i="1" lang="en-US" sz="1800">
                <a:solidFill>
                  <a:schemeClr val="dk1"/>
                </a:solidFill>
              </a:rPr>
              <a:t>state</a:t>
            </a:r>
            <a:r>
              <a:rPr b="0" lang="en-US" sz="1800">
                <a:solidFill>
                  <a:schemeClr val="dk1"/>
                </a:solidFill>
              </a:rPr>
              <a:t> </a:t>
            </a:r>
            <a:r>
              <a:rPr b="0" lang="en-US" sz="1800">
                <a:solidFill>
                  <a:schemeClr val="dk1"/>
                </a:solidFill>
              </a:rPr>
              <a:t>changes)</a:t>
            </a:r>
            <a:r>
              <a:rPr b="0" lang="en-US" sz="1800">
                <a:solidFill>
                  <a:schemeClr val="dk1"/>
                </a:solidFill>
              </a:rPr>
              <a:t>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chemeClr val="dk1"/>
                </a:solidFill>
              </a:rPr>
              <a:t>Use </a:t>
            </a:r>
            <a:r>
              <a:rPr lang="en-US" sz="1800">
                <a:solidFill>
                  <a:schemeClr val="dk1"/>
                </a:solidFill>
              </a:rPr>
              <a:t>assignment</a:t>
            </a:r>
            <a:r>
              <a:rPr b="0" lang="en-US" sz="1800">
                <a:solidFill>
                  <a:schemeClr val="dk1"/>
                </a:solidFill>
              </a:rPr>
              <a:t> to modify program state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20" name="Google Shape;22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1" name="Google Shape;22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913" y="2399225"/>
            <a:ext cx="4217398" cy="24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5603488" y="3155463"/>
            <a:ext cx="22896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1: von Neumann architecture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What is a state?</a:t>
            </a:r>
            <a:endParaRPr/>
          </a:p>
        </p:txBody>
      </p:sp>
      <p:sp>
        <p:nvSpPr>
          <p:cNvPr id="228" name="Google Shape;228;p31"/>
          <p:cNvSpPr txBox="1"/>
          <p:nvPr>
            <p:ph type="title"/>
          </p:nvPr>
        </p:nvSpPr>
        <p:spPr>
          <a:xfrm>
            <a:off x="720000" y="887400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Programs in imperative languages rely heavily on modifying the values of a collection of variables, called the </a:t>
            </a:r>
            <a:r>
              <a:rPr b="0" i="1" lang="en-US" sz="1800">
                <a:solidFill>
                  <a:schemeClr val="dk1"/>
                </a:solidFill>
              </a:rPr>
              <a:t>state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Before execution, the state has some initial value σ.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During execution, each command changes the state: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σ = σ</a:t>
            </a:r>
            <a:r>
              <a:rPr b="0" baseline="-25000" lang="en-US" sz="1800">
                <a:solidFill>
                  <a:schemeClr val="dk1"/>
                </a:solidFill>
              </a:rPr>
              <a:t>0</a:t>
            </a:r>
            <a:r>
              <a:rPr b="0" lang="en-US" sz="1800">
                <a:solidFill>
                  <a:schemeClr val="dk1"/>
                </a:solidFill>
              </a:rPr>
              <a:t> → σ</a:t>
            </a:r>
            <a:r>
              <a:rPr b="0" baseline="-25000" lang="en-US" sz="1800">
                <a:solidFill>
                  <a:schemeClr val="dk1"/>
                </a:solidFill>
              </a:rPr>
              <a:t>1</a:t>
            </a:r>
            <a:r>
              <a:rPr b="0" lang="en-US" sz="1800">
                <a:solidFill>
                  <a:schemeClr val="dk1"/>
                </a:solidFill>
              </a:rPr>
              <a:t> → σ</a:t>
            </a:r>
            <a:r>
              <a:rPr b="0" baseline="-25000" lang="en-US" sz="1800">
                <a:solidFill>
                  <a:schemeClr val="dk1"/>
                </a:solidFill>
              </a:rPr>
              <a:t>2</a:t>
            </a:r>
            <a:r>
              <a:rPr b="0" lang="en-US" sz="1800">
                <a:solidFill>
                  <a:schemeClr val="dk1"/>
                </a:solidFill>
              </a:rPr>
              <a:t> → … → </a:t>
            </a:r>
            <a:r>
              <a:rPr b="0" lang="en-US" sz="1800">
                <a:solidFill>
                  <a:schemeClr val="dk1"/>
                </a:solidFill>
              </a:rPr>
              <a:t>σ</a:t>
            </a:r>
            <a:r>
              <a:rPr b="0" baseline="-25000" lang="en-US" sz="1800">
                <a:solidFill>
                  <a:schemeClr val="dk1"/>
                </a:solidFill>
              </a:rPr>
              <a:t>n</a:t>
            </a:r>
            <a:r>
              <a:rPr b="0" lang="en-US" sz="1800">
                <a:solidFill>
                  <a:schemeClr val="dk1"/>
                </a:solidFill>
              </a:rPr>
              <a:t> = σ’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Declarative languages</a:t>
            </a:r>
            <a:endParaRPr/>
          </a:p>
        </p:txBody>
      </p:sp>
      <p:sp>
        <p:nvSpPr>
          <p:cNvPr id="235" name="Google Shape;235;p32"/>
          <p:cNvSpPr txBox="1"/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No state → </a:t>
            </a:r>
            <a:r>
              <a:rPr b="0" i="1" lang="en-US" sz="2000">
                <a:solidFill>
                  <a:schemeClr val="dk1"/>
                </a:solidFill>
              </a:rPr>
              <a:t>State-oriented</a:t>
            </a:r>
            <a:r>
              <a:rPr b="0" lang="en-US" sz="2000">
                <a:solidFill>
                  <a:schemeClr val="dk1"/>
                </a:solidFill>
              </a:rPr>
              <a:t> computations are accomplished by carrying the state around explicitly rather than implicitly.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Uses expressions instead of commands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Loops are </a:t>
            </a:r>
            <a:r>
              <a:rPr b="0" lang="en-US" sz="2000">
                <a:solidFill>
                  <a:schemeClr val="dk1"/>
                </a:solidFill>
              </a:rPr>
              <a:t>replaced</a:t>
            </a:r>
            <a:r>
              <a:rPr b="0" lang="en-US" sz="2000">
                <a:solidFill>
                  <a:schemeClr val="dk1"/>
                </a:solidFill>
              </a:rPr>
              <a:t> by recursion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i="1" lang="en-US" sz="2000">
                <a:solidFill>
                  <a:schemeClr val="dk1"/>
                </a:solidFill>
              </a:rPr>
              <a:t>Functional Languages</a:t>
            </a:r>
            <a:r>
              <a:rPr b="0" lang="en-US" sz="2000">
                <a:solidFill>
                  <a:schemeClr val="dk1"/>
                </a:solidFill>
              </a:rPr>
              <a:t>: The underlying model of computation is </a:t>
            </a:r>
            <a:r>
              <a:rPr b="0" i="1" lang="en-US" sz="2000">
                <a:solidFill>
                  <a:srgbClr val="2E75B5"/>
                </a:solidFill>
              </a:rPr>
              <a:t>function</a:t>
            </a:r>
            <a:r>
              <a:rPr b="0" lang="en-US" sz="2000">
                <a:solidFill>
                  <a:schemeClr val="dk1"/>
                </a:solidFill>
              </a:rPr>
              <a:t>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i="1" lang="en-US" sz="2000">
                <a:solidFill>
                  <a:schemeClr val="dk1"/>
                </a:solidFill>
              </a:rPr>
              <a:t>Logic Programming Languages</a:t>
            </a:r>
            <a:r>
              <a:rPr b="0" lang="en-US" sz="2000">
                <a:solidFill>
                  <a:schemeClr val="dk1"/>
                </a:solidFill>
              </a:rPr>
              <a:t>: The underlying model of computation is </a:t>
            </a:r>
            <a:r>
              <a:rPr b="0" i="1" lang="en-US" sz="2000">
                <a:solidFill>
                  <a:srgbClr val="2E75B5"/>
                </a:solidFill>
              </a:rPr>
              <a:t>predicates</a:t>
            </a:r>
            <a:r>
              <a:rPr b="0" lang="en-US" sz="2000">
                <a:solidFill>
                  <a:schemeClr val="dk1"/>
                </a:solidFill>
              </a:rPr>
              <a:t>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Example: Factorial (1)</a:t>
            </a:r>
            <a:endParaRPr/>
          </a:p>
        </p:txBody>
      </p:sp>
      <p:sp>
        <p:nvSpPr>
          <p:cNvPr id="242" name="Google Shape;242;p33"/>
          <p:cNvSpPr txBox="1"/>
          <p:nvPr>
            <p:ph type="title"/>
          </p:nvPr>
        </p:nvSpPr>
        <p:spPr>
          <a:xfrm>
            <a:off x="1567025" y="1213026"/>
            <a:ext cx="18984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:= x;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:= 1;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n &gt; 0 do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:= a * n;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	n := n – 1;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end;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33"/>
          <p:cNvSpPr txBox="1"/>
          <p:nvPr>
            <p:ph type="title"/>
          </p:nvPr>
        </p:nvSpPr>
        <p:spPr>
          <a:xfrm>
            <a:off x="4218475" y="1017724"/>
            <a:ext cx="3789600" cy="16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factorial(x):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x == 1: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 1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else: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	return x * factorial(x-1)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1135925" y="2840438"/>
            <a:ext cx="2760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Factorial in Imperative Style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3"/>
          <p:cNvSpPr txBox="1"/>
          <p:nvPr/>
        </p:nvSpPr>
        <p:spPr>
          <a:xfrm>
            <a:off x="4732975" y="2840438"/>
            <a:ext cx="2760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Factorial in Functional Style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3"/>
          <p:cNvSpPr txBox="1"/>
          <p:nvPr/>
        </p:nvSpPr>
        <p:spPr>
          <a:xfrm>
            <a:off x="719950" y="3345950"/>
            <a:ext cx="7704000" cy="12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value of the program is the desired factorial rather than storing it in a store.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Declarative programming is often described as expressing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being computed rather than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>
            <p:ph type="title"/>
          </p:nvPr>
        </p:nvSpPr>
        <p:spPr>
          <a:xfrm>
            <a:off x="3510425" y="2078100"/>
            <a:ext cx="47172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CORE PRINCIPLES OF FUNCTIONAL PROGRAMMING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Functional Programming</a:t>
            </a:r>
            <a:endParaRPr/>
          </a:p>
        </p:txBody>
      </p:sp>
      <p:sp>
        <p:nvSpPr>
          <p:cNvPr id="260" name="Google Shape;260;p35"/>
          <p:cNvSpPr txBox="1"/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Functions are first class values.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 type is first class if it can be used anywhere, passed to and returned from functions, assigned to variables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May also have </a:t>
            </a:r>
            <a:r>
              <a:rPr b="0" i="1" lang="en-US" sz="1800">
                <a:solidFill>
                  <a:schemeClr val="dk1"/>
                </a:solidFill>
              </a:rPr>
              <a:t>imperative</a:t>
            </a:r>
            <a:r>
              <a:rPr b="0" lang="en-US" sz="1800">
                <a:solidFill>
                  <a:schemeClr val="dk1"/>
                </a:solidFill>
              </a:rPr>
              <a:t> constructs.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Lisp, Scheme, ML, Erlang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Pure functional languages have </a:t>
            </a:r>
            <a:r>
              <a:rPr lang="en-US" sz="1800">
                <a:solidFill>
                  <a:schemeClr val="dk1"/>
                </a:solidFill>
              </a:rPr>
              <a:t>no implicit side-effects</a:t>
            </a:r>
            <a:r>
              <a:rPr b="0" lang="en-US" sz="1800">
                <a:solidFill>
                  <a:schemeClr val="dk1"/>
                </a:solidFill>
              </a:rPr>
              <a:t> or </a:t>
            </a:r>
            <a:r>
              <a:rPr lang="en-US" sz="1800">
                <a:solidFill>
                  <a:schemeClr val="dk1"/>
                </a:solidFill>
              </a:rPr>
              <a:t>other imperative features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Miranda, Haskell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Example: Factorial (2)</a:t>
            </a:r>
            <a:endParaRPr/>
          </a:p>
        </p:txBody>
      </p:sp>
      <p:sp>
        <p:nvSpPr>
          <p:cNvPr id="267" name="Google Shape;267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36"/>
          <p:cNvSpPr txBox="1"/>
          <p:nvPr/>
        </p:nvSpPr>
        <p:spPr>
          <a:xfrm>
            <a:off x="2339100" y="2457625"/>
            <a:ext cx="44658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factorial :: Integer -&gt; Integer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factorial 0 = 1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factorial n = n * factorial (n - 1)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9" name="Google Shape;269;p36" title="Ảnh màn hình 2025-03-12 lúc 04.27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2813" y="1569900"/>
            <a:ext cx="4158370" cy="88773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6"/>
          <p:cNvSpPr txBox="1"/>
          <p:nvPr/>
        </p:nvSpPr>
        <p:spPr>
          <a:xfrm>
            <a:off x="3191700" y="3631522"/>
            <a:ext cx="276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Factorial in Haskell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Why functional programming?</a:t>
            </a:r>
            <a:endParaRPr/>
          </a:p>
        </p:txBody>
      </p:sp>
      <p:sp>
        <p:nvSpPr>
          <p:cNvPr id="276" name="Google Shape;276;p37"/>
          <p:cNvSpPr txBox="1"/>
          <p:nvPr>
            <p:ph type="title"/>
          </p:nvPr>
        </p:nvSpPr>
        <p:spPr>
          <a:xfrm>
            <a:off x="720000" y="1017725"/>
            <a:ext cx="7704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John Backus (Fortran Creator) argued </a:t>
            </a:r>
            <a:r>
              <a:rPr lang="en-US" sz="1800">
                <a:solidFill>
                  <a:schemeClr val="dk1"/>
                </a:solidFill>
              </a:rPr>
              <a:t>FP is better than imperative programming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Functional programming </a:t>
            </a:r>
            <a:r>
              <a:rPr lang="en-US" sz="1800">
                <a:solidFill>
                  <a:schemeClr val="dk1"/>
                </a:solidFill>
              </a:rPr>
              <a:t>removes state and assignments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Enables </a:t>
            </a:r>
            <a:r>
              <a:rPr lang="en-US" sz="1800">
                <a:solidFill>
                  <a:schemeClr val="dk1"/>
                </a:solidFill>
              </a:rPr>
              <a:t>parallel execution</a:t>
            </a:r>
            <a:r>
              <a:rPr b="0" lang="en-US" sz="1800">
                <a:solidFill>
                  <a:schemeClr val="dk1"/>
                </a:solidFill>
              </a:rPr>
              <a:t> (Concurrency without race conditions).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Algebraic laws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 about programs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Optimizing compilers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Von Neumann bottleneck</a:t>
            </a:r>
            <a:endParaRPr/>
          </a:p>
        </p:txBody>
      </p:sp>
      <p:sp>
        <p:nvSpPr>
          <p:cNvPr id="283" name="Google Shape;283;p38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Von Neumann bottleneck: </a:t>
            </a:r>
            <a:r>
              <a:rPr lang="en-US" sz="1800">
                <a:solidFill>
                  <a:schemeClr val="dk1"/>
                </a:solidFill>
              </a:rPr>
              <a:t>pumping single words back and forth</a:t>
            </a:r>
            <a:r>
              <a:rPr b="0" lang="en-US" sz="1800">
                <a:solidFill>
                  <a:schemeClr val="dk1"/>
                </a:solidFill>
              </a:rPr>
              <a:t> between CPU and store ⇒ Task of a program: change store in some major way.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It has kept us tied to word-at-a-time thinking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of encouraging us to think in terms of the larger conceptual units of the task at hand.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The </a:t>
            </a:r>
            <a:r>
              <a:rPr lang="en-US" sz="1800">
                <a:solidFill>
                  <a:schemeClr val="dk1"/>
                </a:solidFill>
              </a:rPr>
              <a:t>assignment statement</a:t>
            </a:r>
            <a:r>
              <a:rPr b="0" lang="en-US" sz="1800">
                <a:solidFill>
                  <a:schemeClr val="dk1"/>
                </a:solidFill>
              </a:rPr>
              <a:t> is the von Neumann bottleneck of programming languages ⇒ Pure functional programming languages remove state and assignments.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Concurrency possible: order of evaluation doesn’t matter.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84" name="Google Shape;28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Referential transparency</a:t>
            </a:r>
            <a:endParaRPr/>
          </a:p>
        </p:txBody>
      </p:sp>
      <p:sp>
        <p:nvSpPr>
          <p:cNvPr id="290" name="Google Shape;290;p39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A referentially transparent function is a function that, given the </a:t>
            </a:r>
            <a:r>
              <a:rPr lang="en-US" sz="1800">
                <a:solidFill>
                  <a:schemeClr val="dk1"/>
                </a:solidFill>
              </a:rPr>
              <a:t>same parameter(s)</a:t>
            </a:r>
            <a:r>
              <a:rPr b="0" lang="en-US" sz="180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chemeClr val="dk1"/>
                </a:solidFill>
              </a:rPr>
              <a:t>always returns the same result</a:t>
            </a:r>
            <a:r>
              <a:rPr b="0" lang="en-US" sz="1800">
                <a:solidFill>
                  <a:schemeClr val="dk1"/>
                </a:solidFill>
              </a:rPr>
              <a:t>. 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⇒ Do we have such property in imperative languages?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If the function has </a:t>
            </a:r>
            <a:r>
              <a:rPr lang="en-US" sz="1800">
                <a:solidFill>
                  <a:schemeClr val="dk1"/>
                </a:solidFill>
              </a:rPr>
              <a:t>side-effects</a:t>
            </a:r>
            <a:r>
              <a:rPr b="0" lang="en-US" sz="1800">
                <a:solidFill>
                  <a:schemeClr val="dk1"/>
                </a:solidFill>
              </a:rPr>
              <a:t> (updating a global variable, doing input or output), then </a:t>
            </a:r>
            <a:r>
              <a:rPr b="0" i="1" lang="en-US" sz="1800">
                <a:solidFill>
                  <a:schemeClr val="dk1"/>
                </a:solidFill>
              </a:rPr>
              <a:t>f(3) + f(3)</a:t>
            </a:r>
            <a:r>
              <a:rPr b="0" lang="en-US" sz="1800">
                <a:solidFill>
                  <a:schemeClr val="dk1"/>
                </a:solidFill>
              </a:rPr>
              <a:t> may not be the same as </a:t>
            </a:r>
            <a:r>
              <a:rPr b="0" i="1" lang="en-US" sz="1800">
                <a:solidFill>
                  <a:schemeClr val="dk1"/>
                </a:solidFill>
              </a:rPr>
              <a:t>2 * f(3)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second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f(3)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 a different meaning than the first.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Purely declarative languages</a:t>
            </a:r>
            <a:r>
              <a:rPr b="0" lang="en-US" sz="1800">
                <a:solidFill>
                  <a:schemeClr val="dk1"/>
                </a:solidFill>
              </a:rPr>
              <a:t> guarantee referential transparency.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The importance of referential transparency is that it </a:t>
            </a:r>
            <a:r>
              <a:rPr lang="en-US" sz="1800">
                <a:solidFill>
                  <a:schemeClr val="dk1"/>
                </a:solidFill>
              </a:rPr>
              <a:t>allows</a:t>
            </a:r>
            <a:r>
              <a:rPr b="0" lang="en-US" sz="1800">
                <a:solidFill>
                  <a:schemeClr val="dk1"/>
                </a:solidFill>
              </a:rPr>
              <a:t> a programmer (or compiler) </a:t>
            </a:r>
            <a:r>
              <a:rPr lang="en-US" sz="1800">
                <a:solidFill>
                  <a:schemeClr val="dk1"/>
                </a:solidFill>
              </a:rPr>
              <a:t>to reason about program behavior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91" name="Google Shape;29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0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04" name="Google Shape;304;p41"/>
          <p:cNvSpPr txBox="1"/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</a:rPr>
              <a:t>Imperative vs Declarative Programming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Imperative: State-based, step-by-step execution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Declarative: Focus on "what" rather than "how"</a:t>
            </a:r>
            <a:endParaRPr b="0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</a:rPr>
              <a:t>Core Principles of Functional Programming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Pure Functions → No side effects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Immutability → Data doesn’t change after creation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Higher-Order Functions → Functions as first-class values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Recursion replaces loops</a:t>
            </a:r>
            <a:endParaRPr b="0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</a:rPr>
              <a:t>Von Neumann Bottleneck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Traditional imperative programming relies on modifying shared memory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Functional Programming removes mutable state → better parallelism</a:t>
            </a:r>
            <a:endParaRPr b="0" sz="1500">
              <a:solidFill>
                <a:schemeClr val="dk1"/>
              </a:solidFill>
            </a:endParaRPr>
          </a:p>
        </p:txBody>
      </p:sp>
      <p:sp>
        <p:nvSpPr>
          <p:cNvPr id="305" name="Google Shape;30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 txBox="1"/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/>
          </a:p>
        </p:txBody>
      </p:sp>
      <p:sp>
        <p:nvSpPr>
          <p:cNvPr id="312" name="Google Shape;312;p4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https://www.cse.hcmut.edu.vn</a:t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