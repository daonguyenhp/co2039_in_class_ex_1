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781800" cy="9918700"/>
  <p:embeddedFontLst>
    <p:embeddedFont>
      <p:font typeface="Raleway ExtraBold"/>
      <p:bold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Anaheim"/>
      <p:regular r:id="rId33"/>
      <p:bold r:id="rId34"/>
    </p:embeddedFont>
    <p:embeddedFont>
      <p:font typeface="Corbel"/>
      <p:regular r:id="rId35"/>
      <p:bold r:id="rId36"/>
      <p:italic r:id="rId37"/>
      <p:boldItalic r:id="rId38"/>
    </p:embeddedFont>
    <p:embeddedFont>
      <p:font typeface="Tahoma"/>
      <p:regular r:id="rId39"/>
      <p:bold r:id="rId40"/>
    </p:embeddedFont>
    <p:embeddedFont>
      <p:font typeface="Raleway Black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5.xml"/><Relationship Id="rId42" Type="http://schemas.openxmlformats.org/officeDocument/2006/relationships/font" Target="fonts/RalewayBlack-boldItalic.fntdata"/><Relationship Id="rId41" Type="http://schemas.openxmlformats.org/officeDocument/2006/relationships/font" Target="fonts/RalewayBlack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ExtraBold-boldItalic.fntdata"/><Relationship Id="rId27" Type="http://schemas.openxmlformats.org/officeDocument/2006/relationships/font" Target="fonts/Raleway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Anaheim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Corbel-regular.fntdata"/><Relationship Id="rId12" Type="http://schemas.openxmlformats.org/officeDocument/2006/relationships/slide" Target="slides/slide7.xml"/><Relationship Id="rId34" Type="http://schemas.openxmlformats.org/officeDocument/2006/relationships/font" Target="fonts/Anaheim-bold.fntdata"/><Relationship Id="rId15" Type="http://schemas.openxmlformats.org/officeDocument/2006/relationships/slide" Target="slides/slide10.xml"/><Relationship Id="rId37" Type="http://schemas.openxmlformats.org/officeDocument/2006/relationships/font" Target="fonts/Corbel-italic.fntdata"/><Relationship Id="rId14" Type="http://schemas.openxmlformats.org/officeDocument/2006/relationships/slide" Target="slides/slide9.xml"/><Relationship Id="rId36" Type="http://schemas.openxmlformats.org/officeDocument/2006/relationships/font" Target="fonts/Corbel-bold.fntdata"/><Relationship Id="rId17" Type="http://schemas.openxmlformats.org/officeDocument/2006/relationships/slide" Target="slides/slide12.xml"/><Relationship Id="rId39" Type="http://schemas.openxmlformats.org/officeDocument/2006/relationships/font" Target="fonts/Tahoma-regular.fntdata"/><Relationship Id="rId16" Type="http://schemas.openxmlformats.org/officeDocument/2006/relationships/slide" Target="slides/slide11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885e2a979_1_0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2885e2a979_1_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885e2a979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6" name="Google Shape;236;g32885e2a97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885e2a979_1_3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2885e2a979_1_3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885e2a979_1_14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2885e2a979_1_14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885e2a979_1_2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2885e2a979_1_2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885e2a979_1_4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2885e2a979_1_4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885e2a979_1_4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2885e2a979_1_4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2885e2a979_1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g32885e2a97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885e2a979_1_5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2885e2a979_1_5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885e2a979_1_6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2885e2a979_1_6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885e2a979_1_6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2885e2a979_1_6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885e2a979_1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0" name="Google Shape;310;g32885e2a97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885e2a979_1_7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2885e2a979_1_7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28921f37a3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4" name="Google Shape;324;g328921f37a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28921f37a3_0_8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class called Circle is designed as shown in the following class diagram. It contains: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private instance variables: radius (of the type double) and color (of the type String), with default value of 1.0 and "red", respectively.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overloaded constructors - a default constructor with no argument, and a constructor which takes a double argument for radius.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public methods: getRadius() and getArea(), which return the radius and area of this instance, respectively.</a:t>
            </a:r>
            <a:endParaRPr/>
          </a:p>
        </p:txBody>
      </p:sp>
      <p:sp>
        <p:nvSpPr>
          <p:cNvPr id="331" name="Google Shape;331;g328921f37a3_0_8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921f37a3_0_1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class called Circle is designed as shown in the following class diagram. It contains: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private instance variables: radius (of the type double) and color (of the type String), with default value of 1.0 and "red", respectively.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overloaded constructors - a default constructor with no argument, and a constructor which takes a double argument for radius.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public methods: getRadius() and getArea(), which return the radius and area of this instance, respectively.</a:t>
            </a:r>
            <a:endParaRPr/>
          </a:p>
        </p:txBody>
      </p:sp>
      <p:sp>
        <p:nvSpPr>
          <p:cNvPr id="339" name="Google Shape;339;g328921f37a3_0_1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:notes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9:notes"/>
          <p:cNvSpPr/>
          <p:nvPr>
            <p:ph idx="2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39:notes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i="0" sz="9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5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b="1" sz="9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</a:t>
            </a: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" type="body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01" name="Google Shape;101;p14"/>
          <p:cNvSpPr txBox="1"/>
          <p:nvPr>
            <p:ph idx="4" type="body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indent="-37861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indent="-357187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indent="-335756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indent="-335756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30" name="Google Shape;130;p19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>
            <p:ph idx="2" type="pic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/>
          <p:nvPr>
            <p:ph idx="3" type="pic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2"/>
          <p:cNvSpPr txBox="1"/>
          <p:nvPr>
            <p:ph idx="4" type="body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2"/>
          <p:cNvSpPr/>
          <p:nvPr>
            <p:ph idx="5" type="pic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2"/>
          <p:cNvSpPr txBox="1"/>
          <p:nvPr>
            <p:ph idx="6" type="body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3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>
            <p:ph idx="2" type="pic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/>
          <p:nvPr>
            <p:ph idx="3" type="pic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/>
          <p:nvPr>
            <p:ph idx="4" type="pic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/>
          <p:nvPr>
            <p:ph idx="5" type="pic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6" type="body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7" type="body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8" type="body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eet the team 3">
  <p:cSld name="1_Meet the team 3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78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b="1" i="0" sz="2475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8618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7187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5756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5088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5088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hyperlink" Target="https://www.programiz.com/online-compiler/5VrKcTuK0GRr6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Chapter 1: Object Oriented Programming Revision - </a:t>
            </a:r>
            <a:r>
              <a:rPr lang="en-US" sz="2400"/>
              <a:t>Encapsulation</a:t>
            </a:r>
            <a:endParaRPr sz="240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/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/>
              <a:t>Advanced Programming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CO2039</a:t>
            </a:r>
            <a:endParaRPr b="0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190854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>
            <p:ph idx="2" type="title"/>
          </p:nvPr>
        </p:nvSpPr>
        <p:spPr>
          <a:xfrm>
            <a:off x="1711310" y="1166613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3" type="title"/>
          </p:nvPr>
        </p:nvSpPr>
        <p:spPr>
          <a:xfrm>
            <a:off x="1711310" y="2301980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>
            <p:ph idx="4" type="title"/>
          </p:nvPr>
        </p:nvSpPr>
        <p:spPr>
          <a:xfrm>
            <a:off x="1711310" y="1734310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>
            <p:ph idx="5" type="title"/>
          </p:nvPr>
        </p:nvSpPr>
        <p:spPr>
          <a:xfrm>
            <a:off x="1711310" y="2869678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>
            <p:ph idx="1" type="subTitle"/>
          </p:nvPr>
        </p:nvSpPr>
        <p:spPr>
          <a:xfrm>
            <a:off x="2544907" y="1168425"/>
            <a:ext cx="5424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INTRODUCTION TO ENCAPSULATION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>
            <p:ph idx="8" type="subTitle"/>
          </p:nvPr>
        </p:nvSpPr>
        <p:spPr>
          <a:xfrm>
            <a:off x="2544908" y="1736098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KEY CONCEPTS OF ENCAPSULATION</a:t>
            </a:r>
            <a:endParaRPr sz="2000"/>
          </a:p>
        </p:txBody>
      </p:sp>
      <p:sp>
        <p:nvSpPr>
          <p:cNvPr id="200" name="Google Shape;200;p28"/>
          <p:cNvSpPr txBox="1"/>
          <p:nvPr>
            <p:ph idx="13" type="subTitle"/>
          </p:nvPr>
        </p:nvSpPr>
        <p:spPr>
          <a:xfrm>
            <a:off x="2544900" y="2303779"/>
            <a:ext cx="36393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sz="2000"/>
          </a:p>
        </p:txBody>
      </p:sp>
      <p:sp>
        <p:nvSpPr>
          <p:cNvPr id="201" name="Google Shape;201;p28"/>
          <p:cNvSpPr txBox="1"/>
          <p:nvPr>
            <p:ph idx="14" type="subTitle"/>
          </p:nvPr>
        </p:nvSpPr>
        <p:spPr>
          <a:xfrm>
            <a:off x="2544900" y="2830225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  <p:grpSp>
        <p:nvGrpSpPr>
          <p:cNvPr id="202" name="Google Shape;202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203" name="Google Shape;203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4" name="Google Shape;204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" name="Google Shape;206;p28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8"/>
          <p:cNvSpPr/>
          <p:nvPr/>
        </p:nvSpPr>
        <p:spPr>
          <a:xfrm rot="-5400000">
            <a:off x="169589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8"/>
          <p:cNvSpPr txBox="1"/>
          <p:nvPr>
            <p:ph idx="5" type="title"/>
          </p:nvPr>
        </p:nvSpPr>
        <p:spPr>
          <a:xfrm>
            <a:off x="1711310" y="3402928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/>
          <p:nvPr>
            <p:ph idx="14" type="subTitle"/>
          </p:nvPr>
        </p:nvSpPr>
        <p:spPr>
          <a:xfrm>
            <a:off x="2544900" y="3363475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EXTENSION: CLASS DIAGRAM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INTRODUCTION TO ENCAPSULATION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9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Encapsulation?</a:t>
            </a:r>
            <a:endParaRPr/>
          </a:p>
        </p:txBody>
      </p:sp>
      <p:sp>
        <p:nvSpPr>
          <p:cNvPr id="223" name="Google Shape;223;p30"/>
          <p:cNvSpPr txBox="1"/>
          <p:nvPr>
            <p:ph type="title"/>
          </p:nvPr>
        </p:nvSpPr>
        <p:spPr>
          <a:xfrm>
            <a:off x="720000" y="1017725"/>
            <a:ext cx="7704000" cy="12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lang="en-US" sz="2000">
                <a:solidFill>
                  <a:schemeClr val="dk1"/>
                </a:solidFill>
              </a:rPr>
              <a:t>When </a:t>
            </a:r>
            <a:r>
              <a:rPr i="1" lang="en-US" sz="2000">
                <a:solidFill>
                  <a:schemeClr val="dk1"/>
                </a:solidFill>
              </a:rPr>
              <a:t>creating new data types (classes)</a:t>
            </a:r>
            <a:r>
              <a:rPr b="0" lang="en-US" sz="2000">
                <a:solidFill>
                  <a:schemeClr val="dk1"/>
                </a:solidFill>
              </a:rPr>
              <a:t> the </a:t>
            </a:r>
            <a:r>
              <a:rPr i="1" lang="en-US" sz="2000">
                <a:solidFill>
                  <a:schemeClr val="dk1"/>
                </a:solidFill>
              </a:rPr>
              <a:t>details of the actual data</a:t>
            </a:r>
            <a:r>
              <a:rPr b="0" lang="en-US" sz="2000">
                <a:solidFill>
                  <a:schemeClr val="dk1"/>
                </a:solidFill>
              </a:rPr>
              <a:t> and </a:t>
            </a:r>
            <a:r>
              <a:rPr i="1" lang="en-US" sz="2000">
                <a:solidFill>
                  <a:schemeClr val="dk1"/>
                </a:solidFill>
              </a:rPr>
              <a:t>the way operations work</a:t>
            </a:r>
            <a:r>
              <a:rPr b="0" lang="en-US" sz="2000">
                <a:solidFill>
                  <a:schemeClr val="dk1"/>
                </a:solidFill>
              </a:rPr>
              <a:t> </a:t>
            </a:r>
            <a:r>
              <a:rPr i="1" lang="en-US" sz="2000">
                <a:solidFill>
                  <a:schemeClr val="dk1"/>
                </a:solidFill>
              </a:rPr>
              <a:t>is hidden</a:t>
            </a:r>
            <a:r>
              <a:rPr b="0" lang="en-US" sz="2000">
                <a:solidFill>
                  <a:schemeClr val="dk1"/>
                </a:solidFill>
              </a:rPr>
              <a:t> from the other programmers who will use those new data types.</a:t>
            </a:r>
            <a:endParaRPr/>
          </a:p>
        </p:txBody>
      </p:sp>
      <p:pic>
        <p:nvPicPr>
          <p:cNvPr id="224" name="Google Shape;2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638" y="2062850"/>
            <a:ext cx="3244727" cy="27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Why is Encapsulation important?</a:t>
            </a:r>
            <a:endParaRPr/>
          </a:p>
        </p:txBody>
      </p:sp>
      <p:pic>
        <p:nvPicPr>
          <p:cNvPr id="231" name="Google Shape;23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621" y="1017775"/>
            <a:ext cx="3123275" cy="3480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 txBox="1"/>
          <p:nvPr>
            <p:ph type="title"/>
          </p:nvPr>
        </p:nvSpPr>
        <p:spPr>
          <a:xfrm>
            <a:off x="720000" y="963275"/>
            <a:ext cx="52869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lang="en-US" sz="2000">
                <a:solidFill>
                  <a:schemeClr val="dk1"/>
                </a:solidFill>
              </a:rPr>
              <a:t>By controlling how data and methods are accessed or modified, encapsulation ensures: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Data Integrity</a:t>
            </a:r>
            <a:r>
              <a:rPr b="0" lang="en-US" sz="2000">
                <a:solidFill>
                  <a:schemeClr val="dk1"/>
                </a:solidFill>
              </a:rPr>
              <a:t>: Prevents unauthorized or accidental changes to data.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Security</a:t>
            </a:r>
            <a:r>
              <a:rPr b="0" lang="en-US" sz="2000">
                <a:solidFill>
                  <a:schemeClr val="dk1"/>
                </a:solidFill>
              </a:rPr>
              <a:t>: Sensitive data is hidden from unauthorized access.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Ease of Use</a:t>
            </a:r>
            <a:r>
              <a:rPr b="0" lang="en-US" sz="2000">
                <a:solidFill>
                  <a:schemeClr val="dk1"/>
                </a:solidFill>
              </a:rPr>
              <a:t>: Users of the class do not need to understand its internal complexities.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Code Maintenance</a:t>
            </a:r>
            <a:r>
              <a:rPr b="0" lang="en-US" sz="2000">
                <a:solidFill>
                  <a:schemeClr val="dk1"/>
                </a:solidFill>
              </a:rPr>
              <a:t>: Internal implementation can change without impacting external usage.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233" name="Google Shape;23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KEY CONCEPTS OF ENCAPSULATION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2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How Encapsulation works?</a:t>
            </a:r>
            <a:endParaRPr/>
          </a:p>
        </p:txBody>
      </p:sp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1017725"/>
            <a:ext cx="39366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Defining Classes and Objects </a:t>
            </a:r>
            <a:endParaRPr b="0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</a:rPr>
              <a:t>⇒ Can I use </a:t>
            </a:r>
            <a:r>
              <a:rPr i="1" lang="en-US" sz="2000">
                <a:solidFill>
                  <a:schemeClr val="dk1"/>
                </a:solidFill>
              </a:rPr>
              <a:t>Struct</a:t>
            </a:r>
            <a:r>
              <a:rPr b="0" lang="en-US" sz="2000">
                <a:solidFill>
                  <a:schemeClr val="dk1"/>
                </a:solidFill>
              </a:rPr>
              <a:t> instead of </a:t>
            </a:r>
            <a:r>
              <a:rPr i="1" lang="en-US" sz="2000">
                <a:solidFill>
                  <a:schemeClr val="dk1"/>
                </a:solidFill>
              </a:rPr>
              <a:t>Class</a:t>
            </a:r>
            <a:r>
              <a:rPr b="0" lang="en-US" sz="2000">
                <a:solidFill>
                  <a:schemeClr val="dk1"/>
                </a:solidFill>
              </a:rPr>
              <a:t>?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Using Getters and Setters for Data Access</a:t>
            </a:r>
            <a:endParaRPr b="0" sz="2000">
              <a:solidFill>
                <a:schemeClr val="dk1"/>
              </a:solidFill>
            </a:endParaRPr>
          </a:p>
        </p:txBody>
      </p:sp>
      <p:pic>
        <p:nvPicPr>
          <p:cNvPr id="247" name="Google Shape;24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703" y="1087875"/>
            <a:ext cx="3767300" cy="3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/>
        </p:nvSpPr>
        <p:spPr>
          <a:xfrm>
            <a:off x="6884500" y="3560200"/>
            <a:ext cx="8745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5333300" y="3560200"/>
            <a:ext cx="8745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4134750" y="3560200"/>
            <a:ext cx="8745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Core principles of Encapsulation</a:t>
            </a:r>
            <a:endParaRPr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>
                <a:solidFill>
                  <a:schemeClr val="dk1"/>
                </a:solidFill>
              </a:rPr>
              <a:t>Data Hiding</a:t>
            </a:r>
            <a:r>
              <a:rPr b="0" lang="en-US" sz="2000">
                <a:solidFill>
                  <a:schemeClr val="dk1"/>
                </a:solidFill>
              </a:rPr>
              <a:t>: The internal state of an object is kept private and can only be accessed through public methods (getters and setters).</a:t>
            </a:r>
            <a:endParaRPr b="0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>
                <a:solidFill>
                  <a:schemeClr val="dk1"/>
                </a:solidFill>
              </a:rPr>
              <a:t>Access Control</a:t>
            </a:r>
            <a:r>
              <a:rPr b="0" lang="en-US" sz="2000">
                <a:solidFill>
                  <a:schemeClr val="dk1"/>
                </a:solidFill>
              </a:rPr>
              <a:t>: Access specifiers are used to control the visibility of class members: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FF0000"/>
                </a:solidFill>
              </a:rPr>
              <a:t>private</a:t>
            </a:r>
            <a:r>
              <a:rPr b="0" lang="en-US" sz="2000">
                <a:solidFill>
                  <a:schemeClr val="dk1"/>
                </a:solidFill>
              </a:rPr>
              <a:t>: members (attributes &amp; methods) cannot be accessed (or viewed) from outside the class ⇒ </a:t>
            </a:r>
            <a:r>
              <a:rPr lang="en-US" sz="2000">
                <a:solidFill>
                  <a:schemeClr val="dk1"/>
                </a:solidFill>
              </a:rPr>
              <a:t>Default</a:t>
            </a:r>
            <a:r>
              <a:rPr b="0" lang="en-US" sz="2000">
                <a:solidFill>
                  <a:schemeClr val="dk1"/>
                </a:solidFill>
              </a:rPr>
              <a:t>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accent4"/>
                </a:solidFill>
              </a:rPr>
              <a:t>protected</a:t>
            </a:r>
            <a:r>
              <a:rPr b="0" lang="en-US" sz="2000">
                <a:solidFill>
                  <a:schemeClr val="dk1"/>
                </a:solidFill>
              </a:rPr>
              <a:t>: members cannot be accessed from outside the class, but can be accessed in inherited classes. Learn more about Chap 2 - Inheritance.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00B050"/>
                </a:solidFill>
              </a:rPr>
              <a:t>public</a:t>
            </a:r>
            <a:r>
              <a:rPr b="0" lang="en-US" sz="2000">
                <a:solidFill>
                  <a:schemeClr val="dk1"/>
                </a:solidFill>
              </a:rPr>
              <a:t>: members are accessible from outside the class.</a:t>
            </a:r>
            <a:endParaRPr b="0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t/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How to write in Java &amp; Python?</a:t>
            </a:r>
            <a:endParaRPr/>
          </a:p>
        </p:txBody>
      </p:sp>
      <p:sp>
        <p:nvSpPr>
          <p:cNvPr id="264" name="Google Shape;264;p35"/>
          <p:cNvSpPr txBox="1"/>
          <p:nvPr>
            <p:ph type="title"/>
          </p:nvPr>
        </p:nvSpPr>
        <p:spPr>
          <a:xfrm>
            <a:off x="720000" y="1017725"/>
            <a:ext cx="77040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BankAccount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balance; string password;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BankAccount(double initBalance, string pwd) : balance(initBalance), password(pwd) {}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getBalance(string pwd) { return (pwd == password) ? balance : -1; 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deposit(double amount) { balance += amount; 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withdraw(double amount, string pwd) {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(pwd == password &amp;&amp; amount &lt;= balance) balance -= amount;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Constructor characteristics</a:t>
            </a:r>
            <a:endParaRPr/>
          </a:p>
        </p:txBody>
      </p:sp>
      <p:sp>
        <p:nvSpPr>
          <p:cNvPr id="271" name="Google Shape;271;p36"/>
          <p:cNvSpPr txBox="1"/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b="0" lang="en-US" sz="2000">
                <a:solidFill>
                  <a:schemeClr val="dk1"/>
                </a:solidFill>
              </a:rPr>
              <a:t>A constructor is a special function in a class:  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Same name as the class.  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Not have a return value.  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It is automatically called when an </a:t>
            </a:r>
            <a:r>
              <a:rPr i="1" lang="en-US" sz="2000">
                <a:solidFill>
                  <a:schemeClr val="dk1"/>
                </a:solidFill>
              </a:rPr>
              <a:t>object</a:t>
            </a:r>
            <a:r>
              <a:rPr b="0" lang="en-US" sz="2000">
                <a:solidFill>
                  <a:schemeClr val="dk1"/>
                </a:solidFill>
              </a:rPr>
              <a:t> is created (the programmer does not call it directly).  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If no constructor is declared, the program automatically provides a default </a:t>
            </a:r>
            <a:r>
              <a:rPr i="1" lang="en-US" sz="2000">
                <a:solidFill>
                  <a:schemeClr val="dk1"/>
                </a:solidFill>
              </a:rPr>
              <a:t>empty constructor</a:t>
            </a:r>
            <a:r>
              <a:rPr b="0" lang="en-US" sz="2000">
                <a:solidFill>
                  <a:schemeClr val="dk1"/>
                </a:solidFill>
              </a:rPr>
              <a:t>. </a:t>
            </a:r>
            <a:endParaRPr b="0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</a:rPr>
              <a:t>⇒ What is the access modifier for the default constructor?</a:t>
            </a:r>
            <a:endParaRPr b="0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</a:rPr>
              <a:t>⇒ Can we create a private constructor? (</a:t>
            </a:r>
            <a:r>
              <a:rPr b="0" i="1" lang="en-US" sz="2000">
                <a:solidFill>
                  <a:schemeClr val="dk1"/>
                </a:solidFill>
              </a:rPr>
              <a:t>Singleton Pattern</a:t>
            </a:r>
            <a:r>
              <a:rPr b="0" lang="en-US" sz="2000">
                <a:solidFill>
                  <a:schemeClr val="dk1"/>
                </a:solidFill>
              </a:rPr>
              <a:t>)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Setters &amp; Getters</a:t>
            </a:r>
            <a:endParaRPr/>
          </a:p>
        </p:txBody>
      </p:sp>
      <p:sp>
        <p:nvSpPr>
          <p:cNvPr id="278" name="Google Shape;278;p37"/>
          <p:cNvSpPr txBox="1"/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WHY</a:t>
            </a:r>
            <a:r>
              <a:rPr b="0" lang="en-US" sz="2000">
                <a:solidFill>
                  <a:schemeClr val="dk1"/>
                </a:solidFill>
              </a:rPr>
              <a:t> we need? Data hiding / Controlled access / Flexibility</a:t>
            </a:r>
            <a:endParaRPr b="0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HOW</a:t>
            </a:r>
            <a:r>
              <a:rPr b="0" lang="en-US" sz="2000">
                <a:solidFill>
                  <a:schemeClr val="dk1"/>
                </a:solidFill>
              </a:rPr>
              <a:t> they work?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i="1" lang="en-US" sz="2000">
                <a:solidFill>
                  <a:schemeClr val="dk1"/>
                </a:solidFill>
              </a:rPr>
              <a:t>Private Data Members</a:t>
            </a:r>
            <a:r>
              <a:rPr b="0" lang="en-US" sz="2000">
                <a:solidFill>
                  <a:schemeClr val="dk1"/>
                </a:solidFill>
              </a:rPr>
              <a:t>: Data members of the class are declared private to restrict direct access.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i="1" lang="en-US" sz="2000">
                <a:solidFill>
                  <a:schemeClr val="dk1"/>
                </a:solidFill>
              </a:rPr>
              <a:t>Public Methods</a:t>
            </a:r>
            <a:r>
              <a:rPr b="0" lang="en-US" sz="2000">
                <a:solidFill>
                  <a:schemeClr val="dk1"/>
                </a:solidFill>
              </a:rPr>
              <a:t>:</a:t>
            </a:r>
            <a:endParaRPr b="0"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b="1"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Getter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Provides controlled access to retrieve the value of a private data member.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b="1"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Setter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Provides controlled access to modify the value of a private data member.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BEST PRACTICES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8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1 - Multiple constructor</a:t>
            </a:r>
            <a:endParaRPr/>
          </a:p>
        </p:txBody>
      </p:sp>
      <p:sp>
        <p:nvSpPr>
          <p:cNvPr id="292" name="Google Shape;292;p39"/>
          <p:cNvSpPr txBox="1"/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Create a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Car</a:t>
            </a:r>
            <a:r>
              <a:rPr b="0" lang="en-US" sz="1800">
                <a:solidFill>
                  <a:schemeClr val="dk1"/>
                </a:solidFill>
              </a:rPr>
              <a:t> class with the following private attributes: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brand</a:t>
            </a:r>
            <a:r>
              <a:rPr b="0" lang="en-US" sz="1800">
                <a:solidFill>
                  <a:schemeClr val="dk1"/>
                </a:solidFill>
              </a:rPr>
              <a:t> (string)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b="0" lang="en-US" sz="1800">
                <a:solidFill>
                  <a:schemeClr val="dk1"/>
                </a:solidFill>
              </a:rPr>
              <a:t> (string)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0" lang="en-US" sz="1800">
                <a:solidFill>
                  <a:schemeClr val="dk1"/>
                </a:solidFill>
              </a:rPr>
              <a:t> (int)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Add the following: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 default constructor that sets default values.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 parameterized constructor to initialize all attributes.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Setters and getters for all attributes.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Write a main function to: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Create an object using the default constructor and display its details.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Create another object using the parameterized constructor and display its details.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93" name="Google Shape;293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2 - Constructor chaining</a:t>
            </a:r>
            <a:endParaRPr/>
          </a:p>
        </p:txBody>
      </p:sp>
      <p:sp>
        <p:nvSpPr>
          <p:cNvPr id="299" name="Google Shape;299;p40"/>
          <p:cNvSpPr txBox="1"/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Create a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Laptop</a:t>
            </a:r>
            <a:r>
              <a:rPr b="0" lang="en-US" sz="1800">
                <a:solidFill>
                  <a:schemeClr val="dk1"/>
                </a:solidFill>
              </a:rPr>
              <a:t> class with attributes: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brand</a:t>
            </a:r>
            <a:r>
              <a:rPr b="0" lang="en-US" sz="1800">
                <a:solidFill>
                  <a:schemeClr val="dk1"/>
                </a:solidFill>
              </a:rPr>
              <a:t> (string)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b="0" lang="en-US" sz="1800">
                <a:solidFill>
                  <a:schemeClr val="dk1"/>
                </a:solidFill>
              </a:rPr>
              <a:t> (string)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r>
              <a:rPr b="0" lang="en-US" sz="1800">
                <a:solidFill>
                  <a:schemeClr val="dk1"/>
                </a:solidFill>
              </a:rPr>
              <a:t> (double)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Add the following: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 default constructor.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 parameterized constructor to initialize all attributes.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Use constructor chaining to call one constructor from another.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Write a main function to test the class.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300" name="Google Shape;30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3 (Bonus)</a:t>
            </a:r>
            <a:endParaRPr/>
          </a:p>
        </p:txBody>
      </p:sp>
      <p:sp>
        <p:nvSpPr>
          <p:cNvPr id="306" name="Google Shape;306;p41"/>
          <p:cNvSpPr txBox="1"/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Create a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b="0" lang="en-US" sz="1800">
                <a:solidFill>
                  <a:schemeClr val="dk1"/>
                </a:solidFill>
              </a:rPr>
              <a:t> system using encapsulation and constructors.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lang="en-US" sz="1800">
                <a:solidFill>
                  <a:schemeClr val="dk1"/>
                </a:solidFill>
              </a:rPr>
              <a:t>Create a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r>
              <a:rPr b="0" lang="en-US" sz="1800">
                <a:solidFill>
                  <a:schemeClr val="dk1"/>
                </a:solidFill>
              </a:rPr>
              <a:t> class with attributes: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lang="en-US" sz="1800">
                <a:solidFill>
                  <a:schemeClr val="dk1"/>
                </a:solidFill>
              </a:rPr>
              <a:t>,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author</a:t>
            </a:r>
            <a:r>
              <a:rPr b="0" lang="en-US" sz="1800">
                <a:solidFill>
                  <a:schemeClr val="dk1"/>
                </a:solidFill>
              </a:rPr>
              <a:t>,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ISBN</a:t>
            </a:r>
            <a:r>
              <a:rPr b="0" lang="en-US" sz="1800">
                <a:solidFill>
                  <a:schemeClr val="dk1"/>
                </a:solidFill>
              </a:rPr>
              <a:t>,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r>
              <a:rPr b="0" lang="en-US" sz="1800">
                <a:solidFill>
                  <a:schemeClr val="dk1"/>
                </a:solidFill>
              </a:rPr>
              <a:t>, and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stock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lang="en-US" sz="1800">
                <a:solidFill>
                  <a:schemeClr val="dk1"/>
                </a:solidFill>
              </a:rPr>
              <a:t>Create a </a:t>
            </a:r>
            <a:r>
              <a:rPr b="0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b="0" lang="en-US" sz="1800">
                <a:solidFill>
                  <a:schemeClr val="dk1"/>
                </a:solidFill>
              </a:rPr>
              <a:t> class with: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array of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to: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new books.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for books by title or author.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Borrow books (reduce stock).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lang="en-US" sz="1800">
                <a:solidFill>
                  <a:schemeClr val="dk1"/>
                </a:solidFill>
              </a:rPr>
              <a:t>Write a main function to simulate library operations.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307" name="Google Shape;30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2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20" name="Google Shape;320;p43"/>
          <p:cNvSpPr txBox="1"/>
          <p:nvPr>
            <p:ph type="title"/>
          </p:nvPr>
        </p:nvSpPr>
        <p:spPr>
          <a:xfrm>
            <a:off x="720000" y="763350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lang="en-US" sz="1800">
                <a:solidFill>
                  <a:schemeClr val="dk1"/>
                </a:solidFill>
              </a:rPr>
              <a:t>Encapsulation is the foundation of OOP, focusing on bundling data and functions within a class. 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lang="en-US" sz="1800">
                <a:solidFill>
                  <a:schemeClr val="dk1"/>
                </a:solidFill>
              </a:rPr>
              <a:t>The main difference between a class and a struct lies in the level of data security (</a:t>
            </a:r>
            <a:r>
              <a:rPr i="1" lang="en-US" sz="1800">
                <a:solidFill>
                  <a:schemeClr val="dk1"/>
                </a:solidFill>
              </a:rPr>
              <a:t>private</a:t>
            </a:r>
            <a:r>
              <a:rPr b="0" lang="en-US" sz="1800">
                <a:solidFill>
                  <a:schemeClr val="dk1"/>
                </a:solidFill>
              </a:rPr>
              <a:t>/</a:t>
            </a:r>
            <a:r>
              <a:rPr i="1" lang="en-US" sz="1800">
                <a:solidFill>
                  <a:schemeClr val="dk1"/>
                </a:solidFill>
              </a:rPr>
              <a:t>public</a:t>
            </a:r>
            <a:r>
              <a:rPr b="0" lang="en-US" sz="1800">
                <a:solidFill>
                  <a:schemeClr val="dk1"/>
                </a:solidFill>
              </a:rPr>
              <a:t>). 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0" lang="en-US" sz="1800">
                <a:solidFill>
                  <a:schemeClr val="dk1"/>
                </a:solidFill>
              </a:rPr>
              <a:t>A constructor is a special mechanism in OOP that automatically executes when an object is created and can cause errors if not properly designed.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321" name="Google Shape;321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EXTENSION: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CLASS DIAGRAM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4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Class diagram</a:t>
            </a:r>
            <a:endParaRPr/>
          </a:p>
        </p:txBody>
      </p:sp>
      <p:sp>
        <p:nvSpPr>
          <p:cNvPr id="334" name="Google Shape;334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5" name="Google Shape;33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3" y="1462088"/>
            <a:ext cx="749617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5"/>
          <p:cNvSpPr txBox="1"/>
          <p:nvPr/>
        </p:nvSpPr>
        <p:spPr>
          <a:xfrm>
            <a:off x="827863" y="3681425"/>
            <a:ext cx="7488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write a program based on the above class diagram?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Hands-on exercise</a:t>
            </a:r>
            <a:endParaRPr/>
          </a:p>
        </p:txBody>
      </p:sp>
      <p:sp>
        <p:nvSpPr>
          <p:cNvPr id="342" name="Google Shape;342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3" name="Google Shape;34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928875"/>
            <a:ext cx="482479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6"/>
          <p:cNvSpPr txBox="1"/>
          <p:nvPr/>
        </p:nvSpPr>
        <p:spPr>
          <a:xfrm>
            <a:off x="5611250" y="302850"/>
            <a:ext cx="2945400" cy="45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called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models a bouncing ball, is designed as shown in the following class diagram.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contains its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radius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position. Each move-step advances the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delta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delta-y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respectively.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delta-x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delta-y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could be positive or negative.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reflectHorizontal()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reflectVertical()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methods could be used to bounce the ball off the walls. Write the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Ball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class. Study the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how the ball bounces.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https://www.programiz.com/online-compiler/5VrKcTuK0GRr6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51" name="Google Shape;351;p4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